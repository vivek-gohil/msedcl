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0" autoAdjust="0"/>
    <p:restoredTop sz="94660"/>
  </p:normalViewPr>
  <p:slideViewPr>
    <p:cSldViewPr snapToGrid="0">
      <p:cViewPr varScale="1">
        <p:scale>
          <a:sx n="180" d="100"/>
          <a:sy n="180" d="100"/>
        </p:scale>
        <p:origin x="130" y="3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CA68A-5312-5F07-FE2D-D0A3B7E379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C70D2F-0176-8325-F658-82C546D0EC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6D4CF9-D296-5986-A37E-69EA511E9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D0C55-390A-4BBB-BC8B-C478EE584782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4FFD1-0D5F-6BFF-DE61-9E6892195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5FCA4-C88F-96B2-C577-3628DD2E1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2B948-993C-46E3-9687-52AACBBE8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326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AE3B5-4638-CB32-E460-4F6F1883B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6573B-1D14-0ECF-9FE5-227099ABA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FEAB8-9D7D-06CA-4B2A-6DA6279DD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D0C55-390A-4BBB-BC8B-C478EE584782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C62DB-FBF4-2B6F-D53A-13A591BB3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37A71E-7F6F-F938-11B6-7F78BC2AB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2B948-993C-46E3-9687-52AACBBE8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119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CE53D-C386-CD87-17E4-6FA218B9C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C021EC-F994-934C-D52F-1065F592E2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649BF-B737-F9E9-B662-1660518BA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D0C55-390A-4BBB-BC8B-C478EE584782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6787F-35E5-1145-5850-44A9E19D2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5B3809-0439-1783-E51C-54267BE96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2B948-993C-46E3-9687-52AACBBE8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728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0003E-D22A-FE72-1BFD-D84BEF32D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441D7-519A-3218-1D57-7ADEEEDEEC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3761BC-BAA4-2426-ECA1-F14EC9F210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B9D653-7073-9609-B5D1-F273928B1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D0C55-390A-4BBB-BC8B-C478EE584782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6B5C7C-27B2-91A2-2903-28180B427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D3882F-D036-616B-862E-BA8846E37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2B948-993C-46E3-9687-52AACBBE8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921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B7CB1-E8CC-5571-0B1C-0D00B4717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25735-9B10-F3EE-3C93-77D03142AB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99210-C125-4A0F-D3D9-228F7F323F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8F15F1-E7FC-999E-8CA1-0BCE54BB43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6E34E5-D22F-E005-FC96-9598B5E79E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A5316A-A777-647D-719D-4D2721F04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D0C55-390A-4BBB-BC8B-C478EE584782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407A48-64FF-BFC7-CEAB-4449411C2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83009A-840E-EA77-1F18-11A53B4AA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2B948-993C-46E3-9687-52AACBBE8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56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34104-479F-C33D-4AAA-4FCEEB52C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45BE3A-C82B-647B-FD08-5963215BB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D0C55-390A-4BBB-BC8B-C478EE584782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036FC6-08EA-ADE0-A744-634D07CF4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3C4B3C-6C41-3D8D-D74F-D14C4161F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2B948-993C-46E3-9687-52AACBBE8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729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B2C2BB-3C12-B843-CFF5-E01E3933A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D0C55-390A-4BBB-BC8B-C478EE584782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4D1D85-2C99-1C41-19D3-AD47972B0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736FB1-6F29-A8B2-237C-F050B2643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2B948-993C-46E3-9687-52AACBBE8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900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14542-D1FA-866A-EC54-4D9C0D4A8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2C700-5C1C-BA10-C5D6-2ABF1E206F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BD22DA-69B2-FF5C-DB07-D8ADDE3EB0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2546CC-A5CF-6C55-7F8D-58FF0BB5B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D0C55-390A-4BBB-BC8B-C478EE584782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C7E8BF-2018-B533-EBDF-7645FCD64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AFB803-3FB8-8F9F-225D-65CE3CBE3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2B948-993C-46E3-9687-52AACBBE8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3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D5615-ED15-2783-5655-5F62B9EDD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EF12FB-35A2-8A3B-8426-483A0AB58D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0CF4BF-E007-9CF0-A769-E502D54D86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95E5D4-6D9F-7758-97EC-A670E92CC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D0C55-390A-4BBB-BC8B-C478EE584782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CC8DA6-7CBD-3485-D4B8-B4B44FE63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98A05D-5883-F0B7-6B2F-9D155F070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2B948-993C-46E3-9687-52AACBBE8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731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8084F-FD98-EEFC-D311-89B1306A0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982946-6C53-DBE3-3387-EAEFA6F5AF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35B97-F360-2039-BAA8-B8D10D5C2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D0C55-390A-4BBB-BC8B-C478EE584782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AB5CFA-A9FC-C39B-930B-EF609AC74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B247CB-C136-749C-F14F-21453A495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2B948-993C-46E3-9687-52AACBBE8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77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3FDE6F-BE8C-D6E4-2ADE-3820E19C43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BBCEA0-C4C6-687B-07A3-E31D2AA350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81ABA8-4ACE-5EE3-B0B6-D6F7D5569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D0C55-390A-4BBB-BC8B-C478EE584782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E07B11-F701-D38C-73F6-18C173BC8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9E492-2C27-366E-0A40-39704AB45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2B948-993C-46E3-9687-52AACBBE8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686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8D139E-AB6D-BE65-5A52-BDFC46736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72A362-5E70-F115-D994-F215CE556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CB67E-4AD6-6101-7802-B18198BF65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ED0C55-390A-4BBB-BC8B-C478EE584782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6755A-84D3-D556-EB33-5E7335F1CD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ABFA9-1927-99CC-11B1-E1E2ABE5F3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E2B948-993C-46E3-9687-52AACBBE85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23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EBC64-0EF8-7389-CB27-95D0FD64F0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Spring MVC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054ABB-E634-245D-A52A-8BC9D6E083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Vivek Gohil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887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749C1-8EDD-9F39-B1E8-522513937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Dispatcher Servlet – Heart of Spring MVC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88A3E-4694-E8B1-C7A1-09F48B571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Central controller – Front Controller Pattern</a:t>
            </a:r>
          </a:p>
          <a:p>
            <a:r>
              <a:rPr lang="en-GB" dirty="0"/>
              <a:t>Responsibilities</a:t>
            </a:r>
          </a:p>
          <a:p>
            <a:pPr lvl="1"/>
            <a:r>
              <a:rPr lang="en-US" dirty="0"/>
              <a:t>Receives all HTTP requests</a:t>
            </a:r>
          </a:p>
          <a:p>
            <a:pPr lvl="1"/>
            <a:r>
              <a:rPr lang="en-GB" dirty="0"/>
              <a:t>Decides which controller to call</a:t>
            </a:r>
          </a:p>
          <a:p>
            <a:pPr lvl="1"/>
            <a:r>
              <a:rPr lang="en-US" dirty="0"/>
              <a:t>Coordinates entire flow</a:t>
            </a:r>
          </a:p>
          <a:p>
            <a:pPr lvl="1"/>
            <a:r>
              <a:rPr lang="en-US" dirty="0"/>
              <a:t>Returns response to client</a:t>
            </a:r>
          </a:p>
          <a:p>
            <a:r>
              <a:rPr lang="en-US" dirty="0"/>
              <a:t>Think of it as “Traffic Manager” </a:t>
            </a:r>
          </a:p>
        </p:txBody>
      </p:sp>
    </p:spTree>
    <p:extLst>
      <p:ext uri="{BB962C8B-B14F-4D97-AF65-F5344CB8AC3E}">
        <p14:creationId xmlns:p14="http://schemas.microsoft.com/office/powerpoint/2010/main" val="2049362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18C9F-77D6-BC6F-353B-02E882112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Handler Mapping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FD908-F99A-BA6F-8F38-F2B641A19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Finds which controller method should handle the request</a:t>
            </a:r>
          </a:p>
          <a:p>
            <a:r>
              <a:rPr lang="en-GB" dirty="0"/>
              <a:t>How it works</a:t>
            </a:r>
          </a:p>
          <a:p>
            <a:pPr lvl="1"/>
            <a:r>
              <a:rPr lang="en-US" dirty="0"/>
              <a:t>Matches URL (/customer, /upload)</a:t>
            </a:r>
          </a:p>
          <a:p>
            <a:pPr lvl="1"/>
            <a:r>
              <a:rPr lang="en-GB" dirty="0"/>
              <a:t>Uses annotations like @RequestMapping, @GetMapping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789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6913B-FE70-8FF2-4823-753934235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Controller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AAE86-CF7A-DA3C-5E4B-0F620D4ED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Handles request logic</a:t>
            </a:r>
          </a:p>
          <a:p>
            <a:r>
              <a:rPr lang="en-GB" dirty="0"/>
              <a:t>Responsibilities</a:t>
            </a:r>
          </a:p>
          <a:p>
            <a:pPr lvl="1"/>
            <a:r>
              <a:rPr lang="en-GB" dirty="0"/>
              <a:t>Accept request</a:t>
            </a:r>
          </a:p>
          <a:p>
            <a:pPr lvl="1"/>
            <a:r>
              <a:rPr lang="en-GB" dirty="0"/>
              <a:t>Call service layer</a:t>
            </a:r>
          </a:p>
          <a:p>
            <a:pPr lvl="1"/>
            <a:r>
              <a:rPr lang="en-GB" dirty="0"/>
              <a:t>Prepare Model data</a:t>
            </a:r>
          </a:p>
          <a:p>
            <a:pPr lvl="1"/>
            <a:r>
              <a:rPr lang="en-GB" dirty="0"/>
              <a:t>Return View name</a:t>
            </a:r>
          </a:p>
        </p:txBody>
      </p:sp>
    </p:spTree>
    <p:extLst>
      <p:ext uri="{BB962C8B-B14F-4D97-AF65-F5344CB8AC3E}">
        <p14:creationId xmlns:p14="http://schemas.microsoft.com/office/powerpoint/2010/main" val="401845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E47CF-57BF-5030-0F20-79D2367AC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132E8-F39B-45AA-EE10-B17B023B6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Holds data to send to UI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204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1BA25-A985-07EE-F325-D16398EE0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View Resolver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E601A-23E4-5737-56D5-352F4D0857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Convert logical view name to actual file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476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60474FF-D352-3F26-AB94-E23A5B786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View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61F7A62-4282-1747-EC49-8552D123F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Final UI rendered to user</a:t>
            </a:r>
          </a:p>
          <a:p>
            <a:r>
              <a:rPr lang="en-GB" dirty="0"/>
              <a:t>Example</a:t>
            </a:r>
          </a:p>
          <a:p>
            <a:pPr lvl="1"/>
            <a:r>
              <a:rPr lang="en-GB" dirty="0" err="1"/>
              <a:t>Thymeleaf</a:t>
            </a:r>
            <a:r>
              <a:rPr lang="en-GB" dirty="0"/>
              <a:t> (.html)</a:t>
            </a:r>
          </a:p>
          <a:p>
            <a:pPr lvl="1"/>
            <a:r>
              <a:rPr lang="en-GB" dirty="0"/>
              <a:t>JSP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626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34D06-A338-F3A0-008A-A150C579F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Step-by-Step Flow 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DBCF62-5F86-EB22-84AF-E25F55A69601}"/>
              </a:ext>
            </a:extLst>
          </p:cNvPr>
          <p:cNvSpPr/>
          <p:nvPr/>
        </p:nvSpPr>
        <p:spPr>
          <a:xfrm>
            <a:off x="3259328" y="2759457"/>
            <a:ext cx="1272032" cy="17515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Dispatcher Servlet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657E2D-62E9-9B75-45E2-D98BD46D2BBD}"/>
              </a:ext>
            </a:extLst>
          </p:cNvPr>
          <p:cNvSpPr/>
          <p:nvPr/>
        </p:nvSpPr>
        <p:spPr>
          <a:xfrm>
            <a:off x="7274560" y="1865376"/>
            <a:ext cx="1889760" cy="4480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Handler Mapping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06C0FA-0C9C-124E-AED9-96906958F861}"/>
              </a:ext>
            </a:extLst>
          </p:cNvPr>
          <p:cNvSpPr/>
          <p:nvPr/>
        </p:nvSpPr>
        <p:spPr>
          <a:xfrm>
            <a:off x="7274560" y="3418808"/>
            <a:ext cx="1889760" cy="4480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Controller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CE7AA7-E382-CA90-DB01-4B56FB3EE657}"/>
              </a:ext>
            </a:extLst>
          </p:cNvPr>
          <p:cNvSpPr/>
          <p:nvPr/>
        </p:nvSpPr>
        <p:spPr>
          <a:xfrm>
            <a:off x="7274560" y="4972240"/>
            <a:ext cx="1889760" cy="4480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View Resolver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0FD632-E1A5-46A7-4BE8-2A8E7494D211}"/>
              </a:ext>
            </a:extLst>
          </p:cNvPr>
          <p:cNvSpPr/>
          <p:nvPr/>
        </p:nvSpPr>
        <p:spPr>
          <a:xfrm>
            <a:off x="3366009" y="5070094"/>
            <a:ext cx="1016000" cy="4480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View</a:t>
            </a:r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368ED6F-9B8B-5BF6-975C-CDB68D2A86B2}"/>
              </a:ext>
            </a:extLst>
          </p:cNvPr>
          <p:cNvCxnSpPr>
            <a:cxnSpLocks/>
          </p:cNvCxnSpPr>
          <p:nvPr/>
        </p:nvCxnSpPr>
        <p:spPr>
          <a:xfrm>
            <a:off x="4738624" y="3553840"/>
            <a:ext cx="2422144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15468FC-652D-3145-D7DF-ECB8D6D41003}"/>
              </a:ext>
            </a:extLst>
          </p:cNvPr>
          <p:cNvCxnSpPr>
            <a:cxnSpLocks/>
          </p:cNvCxnSpPr>
          <p:nvPr/>
        </p:nvCxnSpPr>
        <p:spPr>
          <a:xfrm flipH="1">
            <a:off x="4738624" y="3793744"/>
            <a:ext cx="2373376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8EBC52A-CB6B-A30E-52E1-8D63FBE6E99A}"/>
              </a:ext>
            </a:extLst>
          </p:cNvPr>
          <p:cNvCxnSpPr>
            <a:cxnSpLocks/>
          </p:cNvCxnSpPr>
          <p:nvPr/>
        </p:nvCxnSpPr>
        <p:spPr>
          <a:xfrm>
            <a:off x="607568" y="3553840"/>
            <a:ext cx="2422144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22E258A-B5B9-AE3D-57F8-E2CC34B7DB24}"/>
              </a:ext>
            </a:extLst>
          </p:cNvPr>
          <p:cNvCxnSpPr>
            <a:cxnSpLocks/>
          </p:cNvCxnSpPr>
          <p:nvPr/>
        </p:nvCxnSpPr>
        <p:spPr>
          <a:xfrm flipV="1">
            <a:off x="4689856" y="1934464"/>
            <a:ext cx="2247392" cy="79235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AA2501F-B308-0AB2-7648-501DD860450C}"/>
              </a:ext>
            </a:extLst>
          </p:cNvPr>
          <p:cNvCxnSpPr>
            <a:cxnSpLocks/>
          </p:cNvCxnSpPr>
          <p:nvPr/>
        </p:nvCxnSpPr>
        <p:spPr>
          <a:xfrm flipH="1">
            <a:off x="4803648" y="2206623"/>
            <a:ext cx="2198624" cy="76009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3A45197-B39B-FCAC-2FD3-FF0BE9219D09}"/>
              </a:ext>
            </a:extLst>
          </p:cNvPr>
          <p:cNvCxnSpPr>
            <a:cxnSpLocks/>
          </p:cNvCxnSpPr>
          <p:nvPr/>
        </p:nvCxnSpPr>
        <p:spPr>
          <a:xfrm>
            <a:off x="4803648" y="4409312"/>
            <a:ext cx="2267712" cy="75038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D40EA65-57FF-AB74-54DF-DF6C9BB8A551}"/>
              </a:ext>
            </a:extLst>
          </p:cNvPr>
          <p:cNvCxnSpPr>
            <a:cxnSpLocks/>
          </p:cNvCxnSpPr>
          <p:nvPr/>
        </p:nvCxnSpPr>
        <p:spPr>
          <a:xfrm flipH="1" flipV="1">
            <a:off x="4746752" y="4678172"/>
            <a:ext cx="2255520" cy="78384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563F067-B3A1-3B0E-680A-31C53E1C2CBB}"/>
              </a:ext>
            </a:extLst>
          </p:cNvPr>
          <p:cNvCxnSpPr>
            <a:cxnSpLocks/>
          </p:cNvCxnSpPr>
          <p:nvPr/>
        </p:nvCxnSpPr>
        <p:spPr>
          <a:xfrm>
            <a:off x="4074160" y="4575142"/>
            <a:ext cx="0" cy="41872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B4A8057-A5FC-D81A-C3FE-96B502676DAD}"/>
              </a:ext>
            </a:extLst>
          </p:cNvPr>
          <p:cNvCxnSpPr>
            <a:cxnSpLocks/>
          </p:cNvCxnSpPr>
          <p:nvPr/>
        </p:nvCxnSpPr>
        <p:spPr>
          <a:xfrm flipV="1">
            <a:off x="3710432" y="4567428"/>
            <a:ext cx="0" cy="42643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280EA5E-6AAF-098C-A39D-7ED8E84A123E}"/>
              </a:ext>
            </a:extLst>
          </p:cNvPr>
          <p:cNvCxnSpPr>
            <a:cxnSpLocks/>
          </p:cNvCxnSpPr>
          <p:nvPr/>
        </p:nvCxnSpPr>
        <p:spPr>
          <a:xfrm flipH="1">
            <a:off x="656336" y="3866864"/>
            <a:ext cx="2373376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71F77017-9F49-8E10-21F7-80845858A460}"/>
              </a:ext>
            </a:extLst>
          </p:cNvPr>
          <p:cNvSpPr txBox="1"/>
          <p:nvPr/>
        </p:nvSpPr>
        <p:spPr>
          <a:xfrm>
            <a:off x="1312672" y="3161792"/>
            <a:ext cx="12552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 (Request)</a:t>
            </a:r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BDD6596-FB0A-390C-D5ED-68D6FC808AA7}"/>
              </a:ext>
            </a:extLst>
          </p:cNvPr>
          <p:cNvSpPr txBox="1"/>
          <p:nvPr/>
        </p:nvSpPr>
        <p:spPr>
          <a:xfrm>
            <a:off x="5303520" y="20894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</a:t>
            </a:r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C7FF73E-5F3C-CCBF-C504-7A95DE82C05A}"/>
              </a:ext>
            </a:extLst>
          </p:cNvPr>
          <p:cNvSpPr txBox="1"/>
          <p:nvPr/>
        </p:nvSpPr>
        <p:spPr>
          <a:xfrm>
            <a:off x="5813552" y="269199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3</a:t>
            </a:r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3B4562-58EF-9376-9C2C-75B5DFCD9458}"/>
              </a:ext>
            </a:extLst>
          </p:cNvPr>
          <p:cNvSpPr txBox="1"/>
          <p:nvPr/>
        </p:nvSpPr>
        <p:spPr>
          <a:xfrm>
            <a:off x="5813552" y="306455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4</a:t>
            </a:r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5308589-72D0-B322-59F0-A59809BFAFB3}"/>
              </a:ext>
            </a:extLst>
          </p:cNvPr>
          <p:cNvSpPr txBox="1"/>
          <p:nvPr/>
        </p:nvSpPr>
        <p:spPr>
          <a:xfrm>
            <a:off x="5049744" y="3822701"/>
            <a:ext cx="1887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5 Model and View</a:t>
            </a:r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0FC4EE5-3EA3-F3EE-5AED-916D718C61AB}"/>
              </a:ext>
            </a:extLst>
          </p:cNvPr>
          <p:cNvSpPr txBox="1"/>
          <p:nvPr/>
        </p:nvSpPr>
        <p:spPr>
          <a:xfrm>
            <a:off x="5874512" y="441131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6</a:t>
            </a:r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C9A8BD1-E230-D36C-69B5-3EDAD1AD196C}"/>
              </a:ext>
            </a:extLst>
          </p:cNvPr>
          <p:cNvSpPr txBox="1"/>
          <p:nvPr/>
        </p:nvSpPr>
        <p:spPr>
          <a:xfrm>
            <a:off x="5842653" y="529412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7</a:t>
            </a:r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B932077-4282-79F9-82F3-0C7F4D56D66B}"/>
              </a:ext>
            </a:extLst>
          </p:cNvPr>
          <p:cNvSpPr txBox="1"/>
          <p:nvPr/>
        </p:nvSpPr>
        <p:spPr>
          <a:xfrm>
            <a:off x="4136202" y="45872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8</a:t>
            </a:r>
            <a:endParaRPr 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56BF679-D228-F4EF-25DC-878AD642CC5F}"/>
              </a:ext>
            </a:extLst>
          </p:cNvPr>
          <p:cNvSpPr txBox="1"/>
          <p:nvPr/>
        </p:nvSpPr>
        <p:spPr>
          <a:xfrm>
            <a:off x="3311145" y="46089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9</a:t>
            </a:r>
            <a:endParaRPr 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CF2A385-061D-12AE-E9C1-400D10C87BC0}"/>
              </a:ext>
            </a:extLst>
          </p:cNvPr>
          <p:cNvSpPr txBox="1"/>
          <p:nvPr/>
        </p:nvSpPr>
        <p:spPr>
          <a:xfrm>
            <a:off x="1185554" y="3903440"/>
            <a:ext cx="15095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10 (Response)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058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9" grpId="0" animBg="1"/>
      <p:bldP spid="47" grpId="0"/>
      <p:bldP spid="48" grpId="0"/>
      <p:bldP spid="49" grpId="0"/>
      <p:bldP spid="51" grpId="0"/>
      <p:bldP spid="52" grpId="0"/>
      <p:bldP spid="53" grpId="0"/>
      <p:bldP spid="54" grpId="0"/>
      <p:bldP spid="55" grpId="0"/>
      <p:bldP spid="56" grpId="0"/>
      <p:bldP spid="5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144</Words>
  <Application>Microsoft Office PowerPoint</Application>
  <PresentationFormat>Widescreen</PresentationFormat>
  <Paragraphs>47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Spring MVC</vt:lpstr>
      <vt:lpstr>Dispatcher Servlet – Heart of Spring MVC</vt:lpstr>
      <vt:lpstr>Handler Mapping</vt:lpstr>
      <vt:lpstr>Controller</vt:lpstr>
      <vt:lpstr>Model</vt:lpstr>
      <vt:lpstr>View Resolver</vt:lpstr>
      <vt:lpstr>View</vt:lpstr>
      <vt:lpstr>Step-by-Step Flow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Vivek Gohil</dc:creator>
  <cp:lastModifiedBy>Vivek Gohil</cp:lastModifiedBy>
  <cp:revision>1</cp:revision>
  <dcterms:created xsi:type="dcterms:W3CDTF">2026-03-21T14:39:01Z</dcterms:created>
  <dcterms:modified xsi:type="dcterms:W3CDTF">2026-03-21T14:40:34Z</dcterms:modified>
</cp:coreProperties>
</file>